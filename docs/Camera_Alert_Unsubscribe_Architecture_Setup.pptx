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9" r:id="rId31"/>
    <p:sldId id="287" r:id="rId32"/>
    <p:sldId id="286" r:id="rId33"/>
    <p:sldId id="285" r:id="rId34"/>
    <p:sldId id="288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D9E79A-27F4-4D69-94E2-97B12FEA59F4}" v="7" dt="2026-01-01T23:12:37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McKellar" userId="afb9983860982953" providerId="LiveId" clId="{CF22AB1D-CBD9-45A6-A99E-B9B56B593E45}"/>
    <pc:docChg chg="custSel addSld delSld modSld sldOrd">
      <pc:chgData name="Peter McKellar" userId="afb9983860982953" providerId="LiveId" clId="{CF22AB1D-CBD9-45A6-A99E-B9B56B593E45}" dt="2026-01-01T23:32:31.920" v="268" actId="14100"/>
      <pc:docMkLst>
        <pc:docMk/>
      </pc:docMkLst>
      <pc:sldChg chg="modSp mod">
        <pc:chgData name="Peter McKellar" userId="afb9983860982953" providerId="LiveId" clId="{CF22AB1D-CBD9-45A6-A99E-B9B56B593E45}" dt="2026-01-01T23:14:14.032" v="139" actId="20577"/>
        <pc:sldMkLst>
          <pc:docMk/>
          <pc:sldMk cId="0" sldId="256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56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3:14:14.032" v="139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3:14:53.043" v="151" actId="20577"/>
        <pc:sldMkLst>
          <pc:docMk/>
          <pc:sldMk cId="0" sldId="257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57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3:14:53.043" v="15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58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58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59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59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60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0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2:44:11.591" v="28" actId="27636"/>
        <pc:sldMkLst>
          <pc:docMk/>
          <pc:sldMk cId="0" sldId="261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1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591" v="28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3:17:11.540" v="164" actId="113"/>
        <pc:sldMkLst>
          <pc:docMk/>
          <pc:sldMk cId="0" sldId="262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2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3:17:11.540" v="164" actId="11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2:44:11.594" v="29" actId="27636"/>
        <pc:sldMkLst>
          <pc:docMk/>
          <pc:sldMk cId="0" sldId="263"/>
        </pc:sldMkLst>
        <pc:spChg chg="mod">
          <ac:chgData name="Peter McKellar" userId="afb9983860982953" providerId="LiveId" clId="{CF22AB1D-CBD9-45A6-A99E-B9B56B593E45}" dt="2026-01-01T22:44:11.594" v="29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64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4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2:44:11.386" v="23"/>
        <pc:sldMkLst>
          <pc:docMk/>
          <pc:sldMk cId="0" sldId="265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5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66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6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67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7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2:44:11.386" v="23"/>
        <pc:sldMkLst>
          <pc:docMk/>
          <pc:sldMk cId="0" sldId="268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8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8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69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9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2:50:10.297" v="32" actId="255"/>
        <pc:sldMkLst>
          <pc:docMk/>
          <pc:sldMk cId="0" sldId="270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0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50:10.297" v="32" actId="255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71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1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2:44:11.602" v="30" actId="27636"/>
        <pc:sldMkLst>
          <pc:docMk/>
          <pc:sldMk cId="0" sldId="272"/>
        </pc:sldMkLst>
        <pc:spChg chg="mod">
          <ac:chgData name="Peter McKellar" userId="afb9983860982953" providerId="LiveId" clId="{CF22AB1D-CBD9-45A6-A99E-B9B56B593E45}" dt="2026-01-01T22:44:11.602" v="30" actId="27636"/>
          <ac:spMkLst>
            <pc:docMk/>
            <pc:sldMk cId="0" sldId="272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2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73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3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3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74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4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4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75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5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2:44:11.607" v="31" actId="27636"/>
        <pc:sldMkLst>
          <pc:docMk/>
          <pc:sldMk cId="0" sldId="276"/>
        </pc:sldMkLst>
        <pc:spChg chg="mod">
          <ac:chgData name="Peter McKellar" userId="afb9983860982953" providerId="LiveId" clId="{CF22AB1D-CBD9-45A6-A99E-B9B56B593E45}" dt="2026-01-01T22:44:11.607" v="31" actId="27636"/>
          <ac:spMkLst>
            <pc:docMk/>
            <pc:sldMk cId="0" sldId="276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6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77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7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7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78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8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3:32:31.920" v="268" actId="14100"/>
        <pc:sldMkLst>
          <pc:docMk/>
          <pc:sldMk cId="0" sldId="279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79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3:32:31.920" v="268" actId="14100"/>
          <ac:spMkLst>
            <pc:docMk/>
            <pc:sldMk cId="0" sldId="279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80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80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80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81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81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81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82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82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82"/>
            <ac:spMk id="3" creationId="{00000000-0000-0000-0000-000000000000}"/>
          </ac:spMkLst>
        </pc:spChg>
      </pc:sldChg>
      <pc:sldChg chg="modSp">
        <pc:chgData name="Peter McKellar" userId="afb9983860982953" providerId="LiveId" clId="{CF22AB1D-CBD9-45A6-A99E-B9B56B593E45}" dt="2026-01-01T22:44:11.386" v="23"/>
        <pc:sldMkLst>
          <pc:docMk/>
          <pc:sldMk cId="0" sldId="283"/>
        </pc:sldMkLst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83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386" v="23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Peter McKellar" userId="afb9983860982953" providerId="LiveId" clId="{CF22AB1D-CBD9-45A6-A99E-B9B56B593E45}" dt="2026-01-01T22:44:11.459" v="25" actId="27636"/>
        <pc:sldMkLst>
          <pc:docMk/>
          <pc:sldMk cId="0" sldId="284"/>
        </pc:sldMkLst>
        <pc:spChg chg="mod">
          <ac:chgData name="Peter McKellar" userId="afb9983860982953" providerId="LiveId" clId="{CF22AB1D-CBD9-45A6-A99E-B9B56B593E45}" dt="2026-01-01T22:44:11.451" v="24" actId="27636"/>
          <ac:spMkLst>
            <pc:docMk/>
            <pc:sldMk cId="0" sldId="284"/>
            <ac:spMk id="2" creationId="{00000000-0000-0000-0000-000000000000}"/>
          </ac:spMkLst>
        </pc:spChg>
        <pc:spChg chg="mod">
          <ac:chgData name="Peter McKellar" userId="afb9983860982953" providerId="LiveId" clId="{CF22AB1D-CBD9-45A6-A99E-B9B56B593E45}" dt="2026-01-01T22:44:11.459" v="25" actId="27636"/>
          <ac:spMkLst>
            <pc:docMk/>
            <pc:sldMk cId="0" sldId="284"/>
            <ac:spMk id="3" creationId="{00000000-0000-0000-0000-000000000000}"/>
          </ac:spMkLst>
        </pc:spChg>
      </pc:sldChg>
      <pc:sldChg chg="addSp modSp new mod ord">
        <pc:chgData name="Peter McKellar" userId="afb9983860982953" providerId="LiveId" clId="{CF22AB1D-CBD9-45A6-A99E-B9B56B593E45}" dt="2026-01-01T23:20:38.880" v="198"/>
        <pc:sldMkLst>
          <pc:docMk/>
          <pc:sldMk cId="662371382" sldId="285"/>
        </pc:sldMkLst>
        <pc:spChg chg="add mod">
          <ac:chgData name="Peter McKellar" userId="afb9983860982953" providerId="LiveId" clId="{CF22AB1D-CBD9-45A6-A99E-B9B56B593E45}" dt="2026-01-01T22:58:40.691" v="40" actId="255"/>
          <ac:spMkLst>
            <pc:docMk/>
            <pc:sldMk cId="662371382" sldId="285"/>
            <ac:spMk id="3" creationId="{7A3A074D-9B44-FA0C-7436-E0BC2DE7820F}"/>
          </ac:spMkLst>
        </pc:spChg>
      </pc:sldChg>
      <pc:sldChg chg="addSp modSp new mod ord">
        <pc:chgData name="Peter McKellar" userId="afb9983860982953" providerId="LiveId" clId="{CF22AB1D-CBD9-45A6-A99E-B9B56B593E45}" dt="2026-01-01T23:20:45.051" v="200"/>
        <pc:sldMkLst>
          <pc:docMk/>
          <pc:sldMk cId="1066019118" sldId="286"/>
        </pc:sldMkLst>
        <pc:spChg chg="add mod">
          <ac:chgData name="Peter McKellar" userId="afb9983860982953" providerId="LiveId" clId="{CF22AB1D-CBD9-45A6-A99E-B9B56B593E45}" dt="2026-01-01T23:01:57.007" v="54" actId="255"/>
          <ac:spMkLst>
            <pc:docMk/>
            <pc:sldMk cId="1066019118" sldId="286"/>
            <ac:spMk id="3" creationId="{AF93C1F0-BC5E-663F-6F02-1593F62442C7}"/>
          </ac:spMkLst>
        </pc:spChg>
      </pc:sldChg>
      <pc:sldChg chg="addSp modSp new mod">
        <pc:chgData name="Peter McKellar" userId="afb9983860982953" providerId="LiveId" clId="{CF22AB1D-CBD9-45A6-A99E-B9B56B593E45}" dt="2026-01-01T23:03:34.398" v="61" actId="255"/>
        <pc:sldMkLst>
          <pc:docMk/>
          <pc:sldMk cId="3797150226" sldId="287"/>
        </pc:sldMkLst>
        <pc:spChg chg="add mod">
          <ac:chgData name="Peter McKellar" userId="afb9983860982953" providerId="LiveId" clId="{CF22AB1D-CBD9-45A6-A99E-B9B56B593E45}" dt="2026-01-01T23:03:34.398" v="61" actId="255"/>
          <ac:spMkLst>
            <pc:docMk/>
            <pc:sldMk cId="3797150226" sldId="287"/>
            <ac:spMk id="3" creationId="{01F648F5-3310-936E-CBFF-5F6BDAC891CF}"/>
          </ac:spMkLst>
        </pc:spChg>
      </pc:sldChg>
      <pc:sldChg chg="modSp new mod">
        <pc:chgData name="Peter McKellar" userId="afb9983860982953" providerId="LiveId" clId="{CF22AB1D-CBD9-45A6-A99E-B9B56B593E45}" dt="2026-01-01T23:12:43.507" v="86" actId="1076"/>
        <pc:sldMkLst>
          <pc:docMk/>
          <pc:sldMk cId="3111004345" sldId="288"/>
        </pc:sldMkLst>
        <pc:spChg chg="mod">
          <ac:chgData name="Peter McKellar" userId="afb9983860982953" providerId="LiveId" clId="{CF22AB1D-CBD9-45A6-A99E-B9B56B593E45}" dt="2026-01-01T23:10:34.710" v="78" actId="20577"/>
          <ac:spMkLst>
            <pc:docMk/>
            <pc:sldMk cId="3111004345" sldId="288"/>
            <ac:spMk id="2" creationId="{6AE5446B-55A9-8E3E-99F4-74B778621DE3}"/>
          </ac:spMkLst>
        </pc:spChg>
        <pc:spChg chg="mod">
          <ac:chgData name="Peter McKellar" userId="afb9983860982953" providerId="LiveId" clId="{CF22AB1D-CBD9-45A6-A99E-B9B56B593E45}" dt="2026-01-01T23:12:43.507" v="86" actId="1076"/>
          <ac:spMkLst>
            <pc:docMk/>
            <pc:sldMk cId="3111004345" sldId="288"/>
            <ac:spMk id="3" creationId="{9EC4641F-5398-7540-82E0-5C94214EFD64}"/>
          </ac:spMkLst>
        </pc:spChg>
      </pc:sldChg>
      <pc:sldChg chg="new del">
        <pc:chgData name="Peter McKellar" userId="afb9983860982953" providerId="LiveId" clId="{CF22AB1D-CBD9-45A6-A99E-B9B56B593E45}" dt="2026-01-01T23:10:09.617" v="63" actId="2696"/>
        <pc:sldMkLst>
          <pc:docMk/>
          <pc:sldMk cId="3935546134" sldId="288"/>
        </pc:sldMkLst>
      </pc:sldChg>
      <pc:sldChg chg="modSp new mod">
        <pc:chgData name="Peter McKellar" userId="afb9983860982953" providerId="LiveId" clId="{CF22AB1D-CBD9-45A6-A99E-B9B56B593E45}" dt="2026-01-01T23:20:18.659" v="196" actId="14100"/>
        <pc:sldMkLst>
          <pc:docMk/>
          <pc:sldMk cId="3408054192" sldId="289"/>
        </pc:sldMkLst>
        <pc:spChg chg="mod">
          <ac:chgData name="Peter McKellar" userId="afb9983860982953" providerId="LiveId" clId="{CF22AB1D-CBD9-45A6-A99E-B9B56B593E45}" dt="2026-01-01T23:20:18.659" v="196" actId="14100"/>
          <ac:spMkLst>
            <pc:docMk/>
            <pc:sldMk cId="3408054192" sldId="289"/>
            <ac:spMk id="2" creationId="{B75A854B-2D96-D564-9CB9-182902D3A7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59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024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15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012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9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0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77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16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11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1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595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4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lerts.mckellar.nz/unsubscrib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kmac99/rms_mqt" TargetMode="External"/><Relationship Id="rId2" Type="http://schemas.openxmlformats.org/officeDocument/2006/relationships/hyperlink" Target="https://github.com/pmcke/Aler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Problem We Were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sz="1600" dirty="0"/>
          </a:p>
          <a:p>
            <a:pPr lvl="1"/>
            <a:r>
              <a:rPr sz="1600" dirty="0"/>
              <a:t>We wanted a system where:</a:t>
            </a:r>
          </a:p>
          <a:p>
            <a:pPr lvl="1"/>
            <a:r>
              <a:rPr sz="1600" dirty="0"/>
              <a:t>Meteor camera alerts are emailed automatically </a:t>
            </a:r>
            <a:r>
              <a:rPr lang="en-NZ" dirty="0"/>
              <a:t>one of 3 fault states occur</a:t>
            </a:r>
            <a:r>
              <a:rPr sz="1600" dirty="0"/>
              <a:t>.</a:t>
            </a:r>
          </a:p>
          <a:p>
            <a:pPr lvl="1"/>
            <a:r>
              <a:rPr sz="1600" dirty="0"/>
              <a:t>Each alert email contains an unsubscribe link.</a:t>
            </a:r>
          </a:p>
          <a:p>
            <a:pPr lvl="1"/>
            <a:r>
              <a:rPr sz="1600" dirty="0"/>
              <a:t>Unsubscribing must be:</a:t>
            </a:r>
          </a:p>
          <a:p>
            <a:pPr lvl="1"/>
            <a:r>
              <a:rPr sz="1600" dirty="0"/>
              <a:t>Explicit (2‑step confirmation)</a:t>
            </a:r>
          </a:p>
          <a:p>
            <a:pPr lvl="1"/>
            <a:r>
              <a:rPr sz="1600" dirty="0"/>
              <a:t>Secure (cannot be forged)</a:t>
            </a:r>
          </a:p>
          <a:p>
            <a:pPr lvl="1"/>
            <a:r>
              <a:rPr sz="1600" dirty="0"/>
              <a:t>Accessible from anywhere on the internet</a:t>
            </a:r>
          </a:p>
          <a:p>
            <a:pPr lvl="1"/>
            <a:r>
              <a:rPr sz="1600" dirty="0"/>
              <a:t>The Raspberry Pi running the system should not expose any open ports on the home router.</a:t>
            </a:r>
          </a:p>
          <a:p>
            <a:pPr lvl="1"/>
            <a:r>
              <a:rPr sz="1600" dirty="0"/>
              <a:t>This led to three major components:</a:t>
            </a:r>
          </a:p>
          <a:p>
            <a:pPr lvl="1"/>
            <a:r>
              <a:rPr sz="1600" dirty="0"/>
              <a:t>Mail sending (</a:t>
            </a:r>
            <a:r>
              <a:rPr sz="1600" dirty="0" err="1"/>
              <a:t>Mailjet</a:t>
            </a:r>
            <a:r>
              <a:rPr sz="1600" dirty="0"/>
              <a:t>)</a:t>
            </a:r>
          </a:p>
          <a:p>
            <a:pPr lvl="1"/>
            <a:r>
              <a:rPr sz="1600" dirty="0"/>
              <a:t>Public HTTPS access without port forwarding (Cloudflare Tunnel)</a:t>
            </a:r>
          </a:p>
          <a:p>
            <a:pPr lvl="1"/>
            <a:r>
              <a:rPr sz="1600" dirty="0"/>
              <a:t>Secure 2‑step unsubscribe logic (Flask + SQLite + HMAC)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High‑Level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sz="1600" dirty="0"/>
          </a:p>
          <a:p>
            <a:pPr lvl="1"/>
            <a:r>
              <a:rPr sz="1600" dirty="0"/>
              <a:t>Camera → MQTT → camera_monitor.py</a:t>
            </a:r>
            <a:br>
              <a:rPr sz="1600" dirty="0"/>
            </a:br>
            <a:r>
              <a:rPr sz="1600" dirty="0"/>
              <a:t>                     │</a:t>
            </a:r>
            <a:br>
              <a:rPr sz="1600" dirty="0"/>
            </a:br>
            <a:r>
              <a:rPr sz="1600" dirty="0"/>
              <a:t>                     ├── Detects </a:t>
            </a:r>
            <a:r>
              <a:rPr lang="en-NZ" dirty="0"/>
              <a:t>error</a:t>
            </a:r>
            <a:r>
              <a:rPr sz="1600" dirty="0"/>
              <a:t> condition</a:t>
            </a:r>
            <a:br>
              <a:rPr sz="1600" dirty="0"/>
            </a:br>
            <a:r>
              <a:rPr sz="1600" dirty="0"/>
              <a:t>                     ├── Sends email via </a:t>
            </a:r>
            <a:r>
              <a:rPr sz="1600" dirty="0" err="1"/>
              <a:t>Mailjet</a:t>
            </a:r>
            <a:br>
              <a:rPr sz="1600" dirty="0"/>
            </a:br>
            <a:r>
              <a:rPr sz="1600" dirty="0"/>
              <a:t>                     └── Generates signed unsubscribe link</a:t>
            </a:r>
            <a:br>
              <a:rPr sz="1600" dirty="0"/>
            </a:br>
            <a:br>
              <a:rPr sz="1600" dirty="0"/>
            </a:br>
            <a:r>
              <a:rPr sz="1600" dirty="0"/>
              <a:t>User clicks unsubscribe link</a:t>
            </a:r>
            <a:br>
              <a:rPr sz="1600" dirty="0"/>
            </a:br>
            <a:r>
              <a:rPr sz="1600" dirty="0"/>
              <a:t>        ↓</a:t>
            </a:r>
            <a:br>
              <a:rPr sz="1600" dirty="0"/>
            </a:br>
            <a:r>
              <a:rPr sz="1600" dirty="0"/>
              <a:t>Cloudflare HTTPS endpoint (no open ports)</a:t>
            </a:r>
            <a:br>
              <a:rPr sz="1600" dirty="0"/>
            </a:br>
            <a:r>
              <a:rPr sz="1600" dirty="0"/>
              <a:t>        ↓</a:t>
            </a:r>
            <a:br>
              <a:rPr sz="1600" dirty="0"/>
            </a:br>
            <a:r>
              <a:rPr sz="1600" dirty="0"/>
              <a:t>Flask app (unsubscribe.py) on Raspberry Pi</a:t>
            </a:r>
            <a:br>
              <a:rPr sz="1600" dirty="0"/>
            </a:br>
            <a:r>
              <a:rPr sz="1600" dirty="0"/>
              <a:t>        ↓</a:t>
            </a:r>
            <a:br>
              <a:rPr sz="1600" dirty="0"/>
            </a:br>
            <a:r>
              <a:rPr sz="1600" dirty="0"/>
              <a:t>SQLite database update (unsubscribed = 1)</a:t>
            </a:r>
          </a:p>
          <a:p>
            <a:pPr lvl="1"/>
            <a:r>
              <a:rPr sz="1600" dirty="0"/>
              <a:t>Key design goals: - No router port forwarding - HTTPS everywhere - No accidental unsubscribes from email scanners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Mailjet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Why Mailjet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 err="1"/>
              <a:t>Mailjet</a:t>
            </a:r>
            <a:r>
              <a:rPr dirty="0"/>
              <a:t> was chosen because it provides: </a:t>
            </a:r>
            <a:endParaRPr lang="en-NZ" dirty="0"/>
          </a:p>
          <a:p>
            <a:pPr lvl="1"/>
            <a:r>
              <a:rPr dirty="0"/>
              <a:t>Reliable SMTP/API delivery </a:t>
            </a:r>
            <a:endParaRPr lang="en-NZ" dirty="0"/>
          </a:p>
          <a:p>
            <a:pPr lvl="1"/>
            <a:r>
              <a:rPr dirty="0"/>
              <a:t>Good deliverability </a:t>
            </a:r>
            <a:r>
              <a:rPr lang="en-NZ" dirty="0"/>
              <a:t>–</a:t>
            </a:r>
            <a:r>
              <a:rPr dirty="0"/>
              <a:t> </a:t>
            </a:r>
            <a:endParaRPr lang="en-NZ" dirty="0"/>
          </a:p>
          <a:p>
            <a:pPr lvl="1"/>
            <a:r>
              <a:rPr dirty="0"/>
              <a:t>Simple REST API - Easy sender/domain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Mailjet Account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Created a Mailjet account</a:t>
            </a:r>
          </a:p>
          <a:p>
            <a:pPr lvl="1"/>
            <a:r>
              <a:t>Verified the sending domain</a:t>
            </a:r>
          </a:p>
          <a:p>
            <a:pPr lvl="1"/>
            <a:r>
              <a:t>Generated API credentials:</a:t>
            </a:r>
          </a:p>
          <a:p>
            <a:pPr lvl="1"/>
            <a:r>
              <a:t>API Key</a:t>
            </a:r>
          </a:p>
          <a:p>
            <a:pPr lvl="1"/>
            <a:r>
              <a:t>API Secret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config.ini Mailjet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sz="2400" dirty="0"/>
          </a:p>
          <a:p>
            <a:pPr lvl="1"/>
            <a:r>
              <a:rPr sz="2400" dirty="0" err="1"/>
              <a:t>Mailjet</a:t>
            </a:r>
            <a:r>
              <a:rPr sz="2400" dirty="0"/>
              <a:t> credentials and sender details live in config.ini:</a:t>
            </a:r>
          </a:p>
          <a:p>
            <a:pPr lvl="1"/>
            <a:r>
              <a:rPr sz="2400" dirty="0"/>
              <a:t>[</a:t>
            </a:r>
            <a:r>
              <a:rPr sz="2400" dirty="0" err="1"/>
              <a:t>mailjet</a:t>
            </a:r>
            <a:r>
              <a:rPr sz="2400" dirty="0"/>
              <a:t>]</a:t>
            </a:r>
            <a:br>
              <a:rPr sz="2400" dirty="0"/>
            </a:br>
            <a:r>
              <a:rPr sz="2400" dirty="0" err="1"/>
              <a:t>api_key</a:t>
            </a:r>
            <a:r>
              <a:rPr sz="2400" dirty="0"/>
              <a:t> = &lt;MAILJET_API_KEY&gt;</a:t>
            </a:r>
            <a:br>
              <a:rPr sz="2400" dirty="0"/>
            </a:br>
            <a:r>
              <a:rPr sz="2400" dirty="0" err="1"/>
              <a:t>api_secret</a:t>
            </a:r>
            <a:r>
              <a:rPr sz="2400" dirty="0"/>
              <a:t> = &lt;MAILJET_SECRET&gt;</a:t>
            </a:r>
            <a:br>
              <a:rPr sz="2400" dirty="0"/>
            </a:br>
            <a:r>
              <a:rPr sz="2400" dirty="0" err="1"/>
              <a:t>from_email</a:t>
            </a:r>
            <a:r>
              <a:rPr sz="2400" dirty="0"/>
              <a:t> = alerts@mckellar.nz</a:t>
            </a:r>
            <a:br>
              <a:rPr sz="2400" dirty="0"/>
            </a:br>
            <a:r>
              <a:rPr sz="2400" dirty="0" err="1"/>
              <a:t>from_name</a:t>
            </a:r>
            <a:r>
              <a:rPr sz="2400" dirty="0"/>
              <a:t> = Meteor Camera Alerts</a:t>
            </a:r>
            <a:br>
              <a:rPr sz="2400" dirty="0"/>
            </a:br>
            <a:r>
              <a:rPr sz="2400" dirty="0" err="1"/>
              <a:t>unsubscribe_url</a:t>
            </a:r>
            <a:r>
              <a:rPr sz="2400" dirty="0"/>
              <a:t> = </a:t>
            </a:r>
            <a:r>
              <a:rPr sz="2400" dirty="0">
                <a:hlinkClick r:id="rId2"/>
              </a:rPr>
              <a:t>https://alerts.mckellar.nz/unsubscribe</a:t>
            </a:r>
            <a:endParaRPr lang="en-NZ" sz="2400" dirty="0"/>
          </a:p>
          <a:p>
            <a:pPr marL="457200" lvl="1" indent="0">
              <a:buNone/>
            </a:pPr>
            <a:endParaRPr sz="2400" dirty="0"/>
          </a:p>
          <a:p>
            <a:pPr lvl="1"/>
            <a:r>
              <a:rPr sz="2400" dirty="0"/>
              <a:t>Important points: - HTTPS is mandatory for Cloudflare Tunnel URLs - </a:t>
            </a:r>
            <a:r>
              <a:rPr sz="2400" dirty="0" err="1"/>
              <a:t>unsubscribe_url</a:t>
            </a:r>
            <a:r>
              <a:rPr sz="2400" dirty="0"/>
              <a:t> is only the base URL; query parameters are added in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How Emails Are Sent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lvl="1" indent="0">
              <a:buNone/>
            </a:pPr>
            <a:r>
              <a:rPr b="1" dirty="0"/>
              <a:t>camera_monitor.py: - </a:t>
            </a:r>
            <a:endParaRPr lang="en-NZ" b="1" dirty="0"/>
          </a:p>
          <a:p>
            <a:pPr lvl="1"/>
            <a:r>
              <a:rPr dirty="0"/>
              <a:t>Detects a camera being offline for more than </a:t>
            </a:r>
            <a:r>
              <a:rPr dirty="0" err="1"/>
              <a:t>timeout_minutes</a:t>
            </a:r>
            <a:r>
              <a:rPr dirty="0"/>
              <a:t> </a:t>
            </a:r>
            <a:r>
              <a:rPr lang="en-NZ" dirty="0"/>
              <a:t>–</a:t>
            </a:r>
            <a:r>
              <a:rPr dirty="0"/>
              <a:t> </a:t>
            </a:r>
            <a:endParaRPr lang="en-NZ" dirty="0"/>
          </a:p>
          <a:p>
            <a:pPr lvl="1"/>
            <a:r>
              <a:rPr dirty="0"/>
              <a:t>Loads a text template (camera_only_down.txt) </a:t>
            </a:r>
            <a:r>
              <a:rPr lang="en-NZ" dirty="0"/>
              <a:t>–</a:t>
            </a:r>
            <a:r>
              <a:rPr dirty="0"/>
              <a:t> </a:t>
            </a:r>
            <a:endParaRPr lang="en-NZ" dirty="0"/>
          </a:p>
          <a:p>
            <a:pPr lvl="1"/>
            <a:r>
              <a:rPr dirty="0"/>
              <a:t>Replaces placeholders: - {station} - {time} - {</a:t>
            </a:r>
            <a:r>
              <a:rPr dirty="0" err="1"/>
              <a:t>unsubscribe_link</a:t>
            </a:r>
            <a:r>
              <a:rPr dirty="0"/>
              <a:t>} </a:t>
            </a:r>
            <a:r>
              <a:rPr lang="en-NZ" dirty="0"/>
              <a:t>–</a:t>
            </a:r>
            <a:r>
              <a:rPr dirty="0"/>
              <a:t> </a:t>
            </a:r>
            <a:endParaRPr lang="en-NZ" dirty="0"/>
          </a:p>
          <a:p>
            <a:pPr lvl="1"/>
            <a:r>
              <a:rPr dirty="0"/>
              <a:t>Converts the message to HTML </a:t>
            </a:r>
            <a:r>
              <a:rPr lang="en-NZ" dirty="0"/>
              <a:t>–</a:t>
            </a:r>
            <a:r>
              <a:rPr dirty="0"/>
              <a:t> </a:t>
            </a:r>
            <a:endParaRPr lang="en-NZ" dirty="0"/>
          </a:p>
          <a:p>
            <a:pPr lvl="1"/>
            <a:r>
              <a:rPr dirty="0"/>
              <a:t>Sends the email using the </a:t>
            </a:r>
            <a:r>
              <a:rPr dirty="0" err="1"/>
              <a:t>Mailjet</a:t>
            </a:r>
            <a:r>
              <a:rPr dirty="0"/>
              <a:t> REST API</a:t>
            </a:r>
          </a:p>
          <a:p>
            <a:pPr lvl="1"/>
            <a:r>
              <a:rPr dirty="0"/>
              <a:t>The unsubscribe link is injected as both: - Plain text - A clickable &lt;a </a:t>
            </a:r>
            <a:r>
              <a:rPr dirty="0" err="1"/>
              <a:t>href</a:t>
            </a:r>
            <a:r>
              <a:rPr dirty="0"/>
              <a:t>="..."&gt; link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4. Why Cloudflare Tunnel Was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The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The unsubscribe web app runs on a Raspberry Pi at home.</a:t>
            </a:r>
          </a:p>
          <a:p>
            <a:pPr lvl="1"/>
            <a:r>
              <a:t>We did not want to: - Open router ports - Manage dynamic IPs - Expose the Pi directly to the internet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The Solution: Cloudflare Tunnel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Cloudflare Tunnel allows: - </a:t>
            </a:r>
            <a:endParaRPr lang="en-NZ" dirty="0"/>
          </a:p>
          <a:p>
            <a:pPr lvl="1"/>
            <a:r>
              <a:rPr dirty="0"/>
              <a:t>Outbound‑only connections from the Pi </a:t>
            </a:r>
            <a:r>
              <a:rPr lang="en-NZ" dirty="0"/>
              <a:t>–</a:t>
            </a:r>
            <a:r>
              <a:rPr dirty="0"/>
              <a:t> </a:t>
            </a:r>
            <a:endParaRPr lang="en-NZ" dirty="0"/>
          </a:p>
          <a:p>
            <a:pPr lvl="1"/>
            <a:r>
              <a:rPr dirty="0"/>
              <a:t>A stable public HTTPS URL </a:t>
            </a:r>
            <a:r>
              <a:rPr lang="en-NZ" dirty="0"/>
              <a:t>–</a:t>
            </a:r>
            <a:r>
              <a:rPr dirty="0"/>
              <a:t> </a:t>
            </a:r>
            <a:endParaRPr lang="en-NZ" dirty="0"/>
          </a:p>
          <a:p>
            <a:pPr lvl="1"/>
            <a:r>
              <a:rPr dirty="0"/>
              <a:t>No port forwarding </a:t>
            </a:r>
            <a:r>
              <a:rPr lang="en-NZ" dirty="0"/>
              <a:t>–</a:t>
            </a:r>
            <a:r>
              <a:rPr dirty="0"/>
              <a:t> </a:t>
            </a:r>
            <a:endParaRPr lang="en-NZ" dirty="0"/>
          </a:p>
          <a:p>
            <a:pPr lvl="1"/>
            <a:r>
              <a:rPr dirty="0"/>
              <a:t>Automatic TLS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What the Tunnel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The Pi opens a persistent outbound connection to Cloudflare</a:t>
            </a:r>
          </a:p>
          <a:p>
            <a:pPr lvl="1"/>
            <a:r>
              <a:t>Cloudflare terminates HTTPS</a:t>
            </a:r>
          </a:p>
          <a:p>
            <a:pPr lvl="1"/>
            <a:r>
              <a:t>Requests are securely forwarded to a local service (Flask)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Cloudflare Tunnel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On the Raspberry Pi:</a:t>
            </a:r>
          </a:p>
          <a:p>
            <a:pPr lvl="1"/>
            <a:r>
              <a:rPr dirty="0" err="1"/>
              <a:t>cloudflared</a:t>
            </a:r>
            <a:r>
              <a:rPr dirty="0"/>
              <a:t> tunnel login</a:t>
            </a:r>
          </a:p>
          <a:p>
            <a:pPr lvl="1"/>
            <a:r>
              <a:rPr dirty="0"/>
              <a:t>This: - </a:t>
            </a:r>
            <a:endParaRPr lang="en-NZ" dirty="0"/>
          </a:p>
          <a:p>
            <a:pPr lvl="2"/>
            <a:r>
              <a:rPr dirty="0"/>
              <a:t>Opens a browser login flow </a:t>
            </a:r>
            <a:r>
              <a:rPr lang="en-NZ" dirty="0"/>
              <a:t>–</a:t>
            </a:r>
            <a:r>
              <a:rPr dirty="0"/>
              <a:t> </a:t>
            </a:r>
            <a:endParaRPr lang="en-NZ" dirty="0"/>
          </a:p>
          <a:p>
            <a:pPr lvl="2"/>
            <a:r>
              <a:rPr dirty="0"/>
              <a:t>Creates </a:t>
            </a:r>
            <a:r>
              <a:rPr dirty="0" err="1"/>
              <a:t>cert.pem</a:t>
            </a:r>
            <a:r>
              <a:rPr dirty="0"/>
              <a:t> </a:t>
            </a:r>
            <a:r>
              <a:rPr lang="en-NZ" dirty="0"/>
              <a:t>–</a:t>
            </a:r>
            <a:r>
              <a:rPr dirty="0"/>
              <a:t> </a:t>
            </a:r>
            <a:endParaRPr lang="en-NZ" dirty="0"/>
          </a:p>
          <a:p>
            <a:pPr lvl="2"/>
            <a:r>
              <a:rPr dirty="0"/>
              <a:t>Authenticates the Pi to the Cloudflare account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Creating the Tunnel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cloudflared tunnel create alerts-unsubscribe</a:t>
            </a:r>
          </a:p>
          <a:p>
            <a:pPr lvl="1"/>
            <a:r>
              <a:t>This generates: - A Tunnel UUID - A credentials JSON 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 Tunnel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100" dirty="0"/>
          </a:p>
          <a:p>
            <a:pPr lvl="1"/>
            <a:r>
              <a:rPr sz="1100" dirty="0"/>
              <a:t>Stored in:</a:t>
            </a:r>
          </a:p>
          <a:p>
            <a:pPr lvl="1"/>
            <a:r>
              <a:rPr sz="1100" dirty="0"/>
              <a:t>/</a:t>
            </a:r>
            <a:r>
              <a:rPr sz="1100" dirty="0" err="1"/>
              <a:t>etc</a:t>
            </a:r>
            <a:r>
              <a:rPr sz="1100" dirty="0"/>
              <a:t>/</a:t>
            </a:r>
            <a:r>
              <a:rPr sz="1100" dirty="0" err="1"/>
              <a:t>cloudflared</a:t>
            </a:r>
            <a:r>
              <a:rPr sz="1100" dirty="0"/>
              <a:t>/</a:t>
            </a:r>
            <a:r>
              <a:rPr sz="1100" dirty="0" err="1"/>
              <a:t>config.yml</a:t>
            </a:r>
            <a:endParaRPr sz="1100" dirty="0"/>
          </a:p>
          <a:p>
            <a:pPr lvl="1"/>
            <a:r>
              <a:rPr sz="1100" dirty="0"/>
              <a:t>tunnel: &lt;UUID&gt;</a:t>
            </a:r>
            <a:br>
              <a:rPr sz="1100" dirty="0"/>
            </a:br>
            <a:r>
              <a:rPr sz="1100" dirty="0"/>
              <a:t>credentials-file: /</a:t>
            </a:r>
            <a:r>
              <a:rPr sz="1100" dirty="0" err="1"/>
              <a:t>etc</a:t>
            </a:r>
            <a:r>
              <a:rPr sz="1100" dirty="0"/>
              <a:t>/</a:t>
            </a:r>
            <a:r>
              <a:rPr sz="1100" dirty="0" err="1"/>
              <a:t>cloudflared</a:t>
            </a:r>
            <a:r>
              <a:rPr sz="1100" dirty="0"/>
              <a:t>/&lt;UUID&gt;.</a:t>
            </a:r>
            <a:r>
              <a:rPr sz="1100" dirty="0" err="1"/>
              <a:t>json</a:t>
            </a:r>
            <a:br>
              <a:rPr sz="1100" dirty="0"/>
            </a:br>
            <a:r>
              <a:rPr sz="1100" dirty="0" err="1"/>
              <a:t>origincert</a:t>
            </a:r>
            <a:r>
              <a:rPr sz="1100" dirty="0"/>
              <a:t>: /</a:t>
            </a:r>
            <a:r>
              <a:rPr sz="1100" dirty="0" err="1"/>
              <a:t>etc</a:t>
            </a:r>
            <a:r>
              <a:rPr sz="1100" dirty="0"/>
              <a:t>/</a:t>
            </a:r>
            <a:r>
              <a:rPr sz="1100" dirty="0" err="1"/>
              <a:t>cloudflared</a:t>
            </a:r>
            <a:r>
              <a:rPr sz="1100" dirty="0"/>
              <a:t>/</a:t>
            </a:r>
            <a:r>
              <a:rPr sz="1100" dirty="0" err="1"/>
              <a:t>cert.pem</a:t>
            </a:r>
            <a:br>
              <a:rPr sz="1100" dirty="0"/>
            </a:br>
            <a:r>
              <a:rPr sz="1100" dirty="0"/>
              <a:t>protocol: http2</a:t>
            </a:r>
            <a:br>
              <a:rPr sz="1100" dirty="0"/>
            </a:br>
            <a:endParaRPr lang="en-NZ" sz="1100" dirty="0"/>
          </a:p>
          <a:p>
            <a:pPr lvl="1"/>
            <a:r>
              <a:rPr sz="1100" dirty="0"/>
              <a:t>ingress:</a:t>
            </a:r>
            <a:br>
              <a:rPr sz="1100" dirty="0"/>
            </a:br>
            <a:r>
              <a:rPr sz="1100" dirty="0"/>
              <a:t>  - hostname: alerts.mckellar.nz</a:t>
            </a:r>
            <a:br>
              <a:rPr sz="1100" dirty="0"/>
            </a:br>
            <a:r>
              <a:rPr sz="1100" dirty="0"/>
              <a:t>    service: http://127.0.0.1:8081</a:t>
            </a:r>
            <a:br>
              <a:rPr sz="1100" dirty="0"/>
            </a:br>
            <a:r>
              <a:rPr sz="1100" dirty="0"/>
              <a:t>  - service: http_status:404</a:t>
            </a:r>
          </a:p>
          <a:p>
            <a:pPr lvl="1"/>
            <a:r>
              <a:rPr sz="1100" dirty="0"/>
              <a:t>Key points: - Flask listens only on localhost - Cloudflare provides public HTTPS - HTTP/2 used for reliability on home networks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5.4 Systemd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Cloudflare Tunnel runs as a system service:</a:t>
            </a:r>
          </a:p>
          <a:p>
            <a:pPr lvl="1"/>
            <a:r>
              <a:t>sudo systemctl enable cloudflared</a:t>
            </a:r>
            <a:br/>
            <a:r>
              <a:t>sudo systemctl start cloudflared</a:t>
            </a:r>
          </a:p>
          <a:p>
            <a:pPr lvl="1"/>
            <a:r>
              <a:t>This ensures: - Automatic startup on boot - Automatic reconnection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6. The Unsubscribe Web App (unsubscribe.py)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6.1 Why a Separate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Unsubscribing is: - User‑initiated - Security‑sensitive</a:t>
            </a:r>
          </a:p>
          <a:p>
            <a:pPr lvl="1"/>
            <a:r>
              <a:t>So it runs as its own Flask app with its own systemd service:</a:t>
            </a:r>
          </a:p>
          <a:p>
            <a:pPr lvl="1"/>
            <a:r>
              <a:t>unsubscribe.service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SQLite table:</a:t>
            </a:r>
          </a:p>
          <a:p>
            <a:pPr lvl="1"/>
            <a:r>
              <a:t>station TEXT</a:t>
            </a:r>
            <a:br/>
            <a:r>
              <a:t>email TEXT</a:t>
            </a:r>
            <a:br/>
            <a:r>
              <a:t>unsubscribed INTEGER</a:t>
            </a:r>
          </a:p>
          <a:p>
            <a:pPr lvl="1"/>
            <a:r>
              <a:t>Important convention: - Stations are stored lowercase (e.g. nz0014)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6.3 Two‑Step Unsubscribe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User clicks link in email (GET /unsubscribe)</a:t>
            </a:r>
          </a:p>
          <a:p>
            <a:pPr lvl="1"/>
            <a:r>
              <a:t>App verifies signature</a:t>
            </a:r>
          </a:p>
          <a:p>
            <a:pPr lvl="1"/>
            <a:r>
              <a:t>App displays confirmation page</a:t>
            </a:r>
          </a:p>
          <a:p>
            <a:pPr lvl="1"/>
            <a:r>
              <a:t>User clicks Yes, unsubscribe (POST /unsubscribe/confirm)</a:t>
            </a:r>
          </a:p>
          <a:p>
            <a:pPr lvl="1"/>
            <a:r>
              <a:t>Database is updated</a:t>
            </a:r>
          </a:p>
          <a:p>
            <a:pPr lvl="1"/>
            <a:r>
              <a:t>This prevents: - Accidental clicks - Email security scanners unsubscribing users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7. Security: Signed Unsubscribe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7.1 Why Signing Was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Without signing, anyone could craft:</a:t>
            </a:r>
          </a:p>
          <a:p>
            <a:pPr lvl="1"/>
            <a:r>
              <a:t>/unsubscribe?station=NZ0014&amp;email=someone@example.com</a:t>
            </a:r>
          </a:p>
          <a:p>
            <a:pPr lvl="1"/>
            <a:r>
              <a:t>and unsubscribe other users.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7.2 How Signing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Both services share a secret:</a:t>
            </a:r>
          </a:p>
          <a:p>
            <a:pPr lvl="1"/>
            <a:r>
              <a:t>UNSUBSCRIBE_SECRET</a:t>
            </a:r>
          </a:p>
          <a:p>
            <a:pPr lvl="1"/>
            <a:r>
              <a:t>The signature is:</a:t>
            </a:r>
          </a:p>
          <a:p>
            <a:pPr lvl="1"/>
            <a:r>
              <a:t>HMAC_SHA256("STATION|email", SECRET)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7.3 Where the Secret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7221538" cy="3450613"/>
          </a:xfrm>
        </p:spPr>
        <p:txBody>
          <a:bodyPr/>
          <a:lstStyle/>
          <a:p>
            <a:endParaRPr dirty="0"/>
          </a:p>
          <a:p>
            <a:pPr lvl="1"/>
            <a:r>
              <a:rPr dirty="0"/>
              <a:t>The secret is injected into both services via </a:t>
            </a:r>
            <a:r>
              <a:rPr dirty="0" err="1"/>
              <a:t>systemd</a:t>
            </a:r>
            <a:r>
              <a:rPr dirty="0"/>
              <a:t> overrides:</a:t>
            </a:r>
          </a:p>
          <a:p>
            <a:pPr lvl="1"/>
            <a:r>
              <a:rPr dirty="0"/>
              <a:t>[Service]</a:t>
            </a:r>
            <a:br>
              <a:rPr dirty="0"/>
            </a:br>
            <a:r>
              <a:rPr dirty="0"/>
              <a:t>Environment="UNSUBSCRIBE_SECRET=</a:t>
            </a:r>
            <a:r>
              <a:rPr lang="en-NZ" dirty="0" err="1"/>
              <a:t>Wouldn’t_you_like_to_know</a:t>
            </a:r>
            <a:r>
              <a:rPr dirty="0"/>
              <a:t>"</a:t>
            </a:r>
          </a:p>
          <a:p>
            <a:pPr lvl="1"/>
            <a:r>
              <a:rPr dirty="0"/>
              <a:t>This guarantees: - camera_monitor.py can generate valid signatures - unsubscribe.py can verify them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7.4 Case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Signature uses UPPERCASE station IDs</a:t>
            </a:r>
          </a:p>
          <a:p>
            <a:pPr lvl="1"/>
            <a:r>
              <a:t>Database lookups use lowercase station IDs</a:t>
            </a:r>
          </a:p>
          <a:p>
            <a:pPr lvl="1"/>
            <a:r>
              <a:t>This avoids mismatch bugs while keeping signatures consistent.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Systemd Services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8.1 camera-monitor.service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Responsibilities: - Subscribe to MQTT - Detect offline cameras - Send alert emails</a:t>
            </a:r>
          </a:p>
          <a:p>
            <a:pPr lvl="1"/>
            <a:r>
              <a:t>Receives: - Mailjet credentials - UNSUBSCRIBE_SECRET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8.2 unsubscribe.service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Responsibilities: - Serve /unsubscribe endpoints - Verify signatures - Update SQLite database</a:t>
            </a:r>
          </a:p>
          <a:p>
            <a:pPr lvl="1"/>
            <a:r>
              <a:t>Also receives: - UNSUBSCRIBE_SECRET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9. Why This Design Is Safe and Robust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pPr lvl="1"/>
            <a:r>
              <a:rPr dirty="0"/>
              <a:t>✔ No router ports opened ✔ HTTPS everywhere ✔ Confirmation step prevents mistakes ✔ Signed links prevent forgery ✔ </a:t>
            </a:r>
            <a:r>
              <a:rPr dirty="0" err="1"/>
              <a:t>Systemd</a:t>
            </a:r>
            <a:r>
              <a:rPr dirty="0"/>
              <a:t> ensures services </a:t>
            </a:r>
            <a:r>
              <a:rPr dirty="0" err="1"/>
              <a:t>su</a:t>
            </a:r>
            <a:r>
              <a:rPr lang="en-NZ" dirty="0"/>
              <a:t>"D:\Libraries\OneDrive\Documents\Peter\Global_Meteor_Network\Alerts\Meteor_Camera_Alerting_System_Documentation_v2.pdf"</a:t>
            </a:r>
            <a:r>
              <a:rPr dirty="0" err="1"/>
              <a:t>rvive</a:t>
            </a:r>
            <a:r>
              <a:rPr dirty="0"/>
              <a:t> reboots ✔ SQLite keeps state simple and local</a:t>
            </a:r>
          </a:p>
          <a:p>
            <a:pPr lvl="1"/>
            <a:r>
              <a:rPr dirty="0"/>
              <a:t>10. Future Enhancements (Optional)</a:t>
            </a:r>
          </a:p>
          <a:p>
            <a:pPr lvl="1"/>
            <a:r>
              <a:rPr dirty="0"/>
              <a:t>Add link expiry timestamps</a:t>
            </a:r>
          </a:p>
          <a:p>
            <a:pPr lvl="1"/>
            <a:r>
              <a:rPr dirty="0"/>
              <a:t>Add a re‑subscribe endpoint</a:t>
            </a:r>
          </a:p>
          <a:p>
            <a:pPr lvl="1"/>
            <a:r>
              <a:rPr dirty="0"/>
              <a:t>Add an admin UI for managing subscriptions</a:t>
            </a:r>
          </a:p>
          <a:p>
            <a:pPr lvl="1"/>
            <a:r>
              <a:rPr dirty="0"/>
              <a:t>Log unsubscribe events for audit purposes</a:t>
            </a:r>
          </a:p>
          <a:p>
            <a:pPr lvl="1"/>
            <a:r>
              <a:rPr dirty="0"/>
              <a:t>11. Summary</a:t>
            </a:r>
          </a:p>
          <a:p>
            <a:pPr lvl="1"/>
            <a:r>
              <a:rPr dirty="0"/>
              <a:t>We ended up with a system that: - Sends reliable alerts - Gives users safe control over subscriptions - Works entirely behind a home NAT - Is secure, auditable, and maintainable</a:t>
            </a:r>
          </a:p>
          <a:p>
            <a:pPr lvl="1"/>
            <a:r>
              <a:rPr dirty="0"/>
              <a:t>This document captures the intent and reasoning, not just the configuration, so the system can be confidently evolved in the future.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854B-2D96-D564-9CB9-182902D3A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802299"/>
            <a:ext cx="7805056" cy="2541431"/>
          </a:xfrm>
        </p:spPr>
        <p:txBody>
          <a:bodyPr/>
          <a:lstStyle/>
          <a:p>
            <a:r>
              <a:rPr lang="en-NZ" dirty="0"/>
              <a:t>Examples of emails sent 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0F1E3-3B09-4BF8-D8C4-4024D79E20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08054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F648F5-3310-936E-CBFF-5F6BDAC891CF}"/>
              </a:ext>
            </a:extLst>
          </p:cNvPr>
          <p:cNvSpPr txBox="1"/>
          <p:nvPr/>
        </p:nvSpPr>
        <p:spPr>
          <a:xfrm>
            <a:off x="370115" y="-524367"/>
            <a:ext cx="891540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Station NZ0014 has not rebooted recently.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Don't reply to this email</a:t>
            </a:r>
          </a:p>
          <a:p>
            <a:endParaRPr lang="en-US" sz="1400" dirty="0"/>
          </a:p>
          <a:p>
            <a:r>
              <a:rPr lang="en-US" sz="1400" dirty="0"/>
              <a:t>Your station last booted at (UTC): 2025-12-29 08:10:11 UTC</a:t>
            </a:r>
          </a:p>
          <a:p>
            <a:r>
              <a:rPr lang="en-US" sz="1400" dirty="0"/>
              <a:t>Hours since boot: 78.02</a:t>
            </a:r>
          </a:p>
          <a:p>
            <a:endParaRPr lang="en-US" sz="1400" dirty="0"/>
          </a:p>
          <a:p>
            <a:r>
              <a:rPr lang="en-US" sz="1400" dirty="0"/>
              <a:t>There may not be anything wrong. It may only be confused.</a:t>
            </a:r>
          </a:p>
          <a:p>
            <a:endParaRPr lang="en-US" sz="1400" dirty="0"/>
          </a:p>
          <a:p>
            <a:r>
              <a:rPr lang="en-US" sz="1400" dirty="0"/>
              <a:t>1) Log into your pi/computer. Look in the </a:t>
            </a:r>
            <a:r>
              <a:rPr lang="en-US" sz="1400" dirty="0" err="1"/>
              <a:t>RMS_Data</a:t>
            </a:r>
            <a:r>
              <a:rPr lang="en-US" sz="1400" dirty="0"/>
              <a:t> folder. Look for a file called ".</a:t>
            </a:r>
            <a:r>
              <a:rPr lang="en-US" sz="1400" dirty="0" err="1"/>
              <a:t>reboot_lock</a:t>
            </a:r>
            <a:r>
              <a:rPr lang="en-US" sz="1400" dirty="0"/>
              <a:t>". You may need </a:t>
            </a:r>
          </a:p>
          <a:p>
            <a:r>
              <a:rPr lang="en-US" sz="1400" dirty="0"/>
              <a:t>  to go to View/Show Hidden in the menu to see this file. Files that begin with a dot are hidden files. </a:t>
            </a:r>
          </a:p>
          <a:p>
            <a:r>
              <a:rPr lang="en-US" sz="1400" dirty="0"/>
              <a:t>  If you are using the command line, use "ls -la to see hidden files. If you see this file delete it.</a:t>
            </a:r>
          </a:p>
          <a:p>
            <a:endParaRPr lang="en-US" sz="1400" dirty="0"/>
          </a:p>
          <a:p>
            <a:r>
              <a:rPr lang="en-US" sz="1400" dirty="0"/>
              <a:t>2) Reboot the pi/computer. Try to do this gracefully at the command line (</a:t>
            </a:r>
            <a:r>
              <a:rPr lang="en-US" sz="1400" dirty="0" err="1"/>
              <a:t>sudo</a:t>
            </a:r>
            <a:r>
              <a:rPr lang="en-US" sz="1400" dirty="0"/>
              <a:t> reboot) but power cycle it if </a:t>
            </a:r>
          </a:p>
          <a:p>
            <a:r>
              <a:rPr lang="en-US" sz="1400" dirty="0"/>
              <a:t>  you must. Everything will probably be OK after a reboot but if this error reoccurs, ask us for help.</a:t>
            </a:r>
          </a:p>
          <a:p>
            <a:endParaRPr lang="en-US" sz="1400" dirty="0"/>
          </a:p>
          <a:p>
            <a:r>
              <a:rPr lang="en-US" sz="1400" dirty="0"/>
              <a:t>  If you are unsure, please reach out to</a:t>
            </a:r>
          </a:p>
          <a:p>
            <a:endParaRPr lang="en-US" sz="1400" dirty="0"/>
          </a:p>
          <a:p>
            <a:r>
              <a:rPr lang="en-US" sz="1400" dirty="0"/>
              <a:t>    gmn@mckellar.net.nz (gmn@mckellar.net.nz)</a:t>
            </a:r>
          </a:p>
          <a:p>
            <a:r>
              <a:rPr lang="en-US" sz="1400" dirty="0"/>
              <a:t>steve@matheson.net.nz (steve@matheson.net.nz)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Unsubscribe from these alerts:</a:t>
            </a:r>
          </a:p>
          <a:p>
            <a:r>
              <a:rPr lang="en-US" sz="1400" dirty="0"/>
              <a:t>https://alerts.mckellar.nz/unsubscribe?station=NZ0014&amp;email=gmn%40mckellar.net.nz&amp;sig=59f62add8b8ccec4e6e7bbc6b691ae1739e152dd95b80b09e8b9d2402e28bf3a</a:t>
            </a:r>
          </a:p>
          <a:p>
            <a:endParaRPr lang="en-US" sz="1400" dirty="0"/>
          </a:p>
          <a:p>
            <a:r>
              <a:rPr lang="en-US" sz="1400" dirty="0"/>
              <a:t>Note: the link will open a confirmation page before you are unsubscribed.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797150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93C1F0-BC5E-663F-6F02-1593F62442C7}"/>
              </a:ext>
            </a:extLst>
          </p:cNvPr>
          <p:cNvSpPr txBox="1"/>
          <p:nvPr/>
        </p:nvSpPr>
        <p:spPr>
          <a:xfrm>
            <a:off x="277586" y="-348342"/>
            <a:ext cx="8588828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Camera alert for station NZ0014</a:t>
            </a:r>
          </a:p>
          <a:p>
            <a:endParaRPr lang="en-US" sz="1200" dirty="0"/>
          </a:p>
          <a:p>
            <a:r>
              <a:rPr lang="en-US" sz="1200" dirty="0"/>
              <a:t>Don't reply to this email</a:t>
            </a:r>
          </a:p>
          <a:p>
            <a:endParaRPr lang="en-US" sz="1200" dirty="0"/>
          </a:p>
          <a:p>
            <a:r>
              <a:rPr lang="en-US" sz="1200" dirty="0"/>
              <a:t>No messages have been received since:</a:t>
            </a:r>
          </a:p>
          <a:p>
            <a:r>
              <a:rPr lang="en-US" sz="1200" dirty="0"/>
              <a:t>2025-12-31 03:14:24 UTC</a:t>
            </a:r>
          </a:p>
          <a:p>
            <a:endParaRPr lang="en-US" sz="1200" dirty="0"/>
          </a:p>
          <a:p>
            <a:r>
              <a:rPr lang="en-US" sz="1200" dirty="0"/>
              <a:t>This indicates that your whole system is offline.</a:t>
            </a:r>
          </a:p>
          <a:p>
            <a:endParaRPr lang="en-US" sz="1200" dirty="0"/>
          </a:p>
          <a:p>
            <a:r>
              <a:rPr lang="en-US" sz="1200" dirty="0"/>
              <a:t>Things to check: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1/ Is the power on to the devices?</a:t>
            </a:r>
          </a:p>
          <a:p>
            <a:endParaRPr lang="en-US" sz="1200" dirty="0"/>
          </a:p>
          <a:p>
            <a:r>
              <a:rPr lang="en-US" sz="1200" dirty="0"/>
              <a:t>2/ Is the internet on? Are you having trouble with other devices on the network?</a:t>
            </a:r>
          </a:p>
          <a:p>
            <a:endParaRPr lang="en-US" sz="1200" dirty="0"/>
          </a:p>
          <a:p>
            <a:r>
              <a:rPr lang="en-US" sz="1200" dirty="0"/>
              <a:t>3/ Is the </a:t>
            </a:r>
            <a:r>
              <a:rPr lang="en-US" sz="1200" dirty="0" err="1"/>
              <a:t>wifi</a:t>
            </a:r>
            <a:r>
              <a:rPr lang="en-US" sz="1200" dirty="0"/>
              <a:t> connection still good? You may need to put a keyboard, mouse and </a:t>
            </a:r>
          </a:p>
          <a:p>
            <a:r>
              <a:rPr lang="en-US" sz="1200" dirty="0"/>
              <a:t>  keyboard onto the pi/computer to check this.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 If you are unsure, please reach out to</a:t>
            </a:r>
          </a:p>
          <a:p>
            <a:endParaRPr lang="en-US" sz="1200" dirty="0"/>
          </a:p>
          <a:p>
            <a:r>
              <a:rPr lang="en-US" sz="1200" dirty="0"/>
              <a:t>	gmn@mckellar.net.nz (gmn@mckellar.net.nz)</a:t>
            </a:r>
          </a:p>
          <a:p>
            <a:r>
              <a:rPr lang="en-US" sz="1200" dirty="0"/>
              <a:t>steve@matheson.net.nz (steve@matheson.net.nz)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Unsubscribe from these alerts:</a:t>
            </a:r>
          </a:p>
          <a:p>
            <a:r>
              <a:rPr lang="en-US" sz="1200" dirty="0"/>
              <a:t>https://alerts.mckellar.nz/unsubscribe?station=NZ0014&amp;email=gmn%40mckellar.net.nz&amp;sig=59f62add8b8ccec4e6e7bbc6b691ae1739e152dd95b80b09e8b9d2402e28bf3a</a:t>
            </a:r>
          </a:p>
          <a:p>
            <a:endParaRPr lang="en-US" sz="1200" dirty="0"/>
          </a:p>
          <a:p>
            <a:r>
              <a:rPr lang="en-US" sz="1200" dirty="0"/>
              <a:t>Note: the link will open a confirmation page before you are unsubscribed.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066019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3A074D-9B44-FA0C-7436-E0BC2DE7820F}"/>
              </a:ext>
            </a:extLst>
          </p:cNvPr>
          <p:cNvSpPr txBox="1"/>
          <p:nvPr/>
        </p:nvSpPr>
        <p:spPr>
          <a:xfrm>
            <a:off x="413657" y="-130629"/>
            <a:ext cx="843642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Camera alert for station NZ001P</a:t>
            </a:r>
          </a:p>
          <a:p>
            <a:endParaRPr lang="en-US" sz="800" dirty="0"/>
          </a:p>
          <a:p>
            <a:r>
              <a:rPr lang="en-US" sz="800" dirty="0"/>
              <a:t>Don't reply to this email</a:t>
            </a:r>
          </a:p>
          <a:p>
            <a:endParaRPr lang="en-US" sz="800" dirty="0"/>
          </a:p>
          <a:p>
            <a:r>
              <a:rPr lang="en-US" sz="800" dirty="0"/>
              <a:t>No messages have been received since: 2025-12-31 03:14:20 UTC</a:t>
            </a:r>
          </a:p>
          <a:p>
            <a:endParaRPr lang="en-US" sz="800" dirty="0"/>
          </a:p>
          <a:p>
            <a:r>
              <a:rPr lang="en-US" sz="800" dirty="0"/>
              <a:t>This indicates the camera is not connected to the pi/computer. </a:t>
            </a:r>
          </a:p>
          <a:p>
            <a:endParaRPr lang="en-US" sz="800" dirty="0"/>
          </a:p>
          <a:p>
            <a:r>
              <a:rPr lang="en-US" sz="800" dirty="0"/>
              <a:t>Things to check</a:t>
            </a:r>
          </a:p>
          <a:p>
            <a:endParaRPr lang="en-US" sz="800" dirty="0"/>
          </a:p>
          <a:p>
            <a:r>
              <a:rPr lang="en-US" sz="800" dirty="0"/>
              <a:t>1/ Is the power switched on to the POE injector, which powers the camera.</a:t>
            </a:r>
          </a:p>
          <a:p>
            <a:endParaRPr lang="en-US" sz="800" dirty="0"/>
          </a:p>
          <a:p>
            <a:r>
              <a:rPr lang="en-US" sz="800" dirty="0"/>
              <a:t>2/ Are all the connections intact. Detach and </a:t>
            </a:r>
            <a:r>
              <a:rPr lang="en-US" sz="800" dirty="0" err="1"/>
              <a:t>replug</a:t>
            </a:r>
            <a:r>
              <a:rPr lang="en-US" sz="800" dirty="0"/>
              <a:t> all the ethernet connectors.</a:t>
            </a:r>
          </a:p>
          <a:p>
            <a:endParaRPr lang="en-US" sz="800" dirty="0"/>
          </a:p>
          <a:p>
            <a:r>
              <a:rPr lang="en-US" sz="800" dirty="0"/>
              <a:t>3/ Check the ethernet cables are plugged in the right places. On the POE injector </a:t>
            </a:r>
          </a:p>
          <a:p>
            <a:r>
              <a:rPr lang="en-US" sz="800" dirty="0"/>
              <a:t>  the two ports are labelled POE &amp; LAN. The cable to the camera goes into POE and </a:t>
            </a:r>
          </a:p>
          <a:p>
            <a:r>
              <a:rPr lang="en-US" sz="800" dirty="0"/>
              <a:t>  the cable to the raspberry pi goes into LAN. </a:t>
            </a:r>
          </a:p>
          <a:p>
            <a:endParaRPr lang="en-US" sz="800" dirty="0"/>
          </a:p>
          <a:p>
            <a:r>
              <a:rPr lang="en-US" sz="800" dirty="0"/>
              <a:t>4/ Check the lights. There should be one light on the POE injector. It should be solid on. </a:t>
            </a:r>
          </a:p>
          <a:p>
            <a:r>
              <a:rPr lang="en-US" sz="800" dirty="0"/>
              <a:t>  If it is flashing then the POE injector is in an error state.</a:t>
            </a:r>
          </a:p>
          <a:p>
            <a:endParaRPr lang="en-US" sz="800" dirty="0"/>
          </a:p>
          <a:p>
            <a:r>
              <a:rPr lang="en-US" sz="800" dirty="0"/>
              <a:t>5/ Check the lights on the POE splitter. One blue light indicates power is on. A green </a:t>
            </a:r>
          </a:p>
          <a:p>
            <a:r>
              <a:rPr lang="en-US" sz="800" dirty="0"/>
              <a:t>  light occasionally blinking indicates network traffic.</a:t>
            </a:r>
          </a:p>
          <a:p>
            <a:endParaRPr lang="en-US" sz="800" dirty="0"/>
          </a:p>
          <a:p>
            <a:r>
              <a:rPr lang="en-US" sz="800" dirty="0"/>
              <a:t>6/ Is the POE splitter warm to the touch. This may indicate a failed POE splitter. </a:t>
            </a:r>
          </a:p>
          <a:p>
            <a:r>
              <a:rPr lang="en-US" sz="800" dirty="0"/>
              <a:t>  These don't fare well when exposed to the weather. Ask for a replacement if it appears </a:t>
            </a:r>
          </a:p>
          <a:p>
            <a:r>
              <a:rPr lang="en-US" sz="800" dirty="0"/>
              <a:t>  to have failed.</a:t>
            </a:r>
          </a:p>
          <a:p>
            <a:endParaRPr lang="en-US" sz="800" dirty="0"/>
          </a:p>
          <a:p>
            <a:r>
              <a:rPr lang="en-US" sz="800" dirty="0"/>
              <a:t>7/ Inside the camera housing, check that all the plugs are well seated on the camera board. </a:t>
            </a:r>
          </a:p>
          <a:p>
            <a:r>
              <a:rPr lang="en-US" sz="800" dirty="0"/>
              <a:t>  There is one small plug for power, one larger one for data. A third plug that is loose is OK.</a:t>
            </a:r>
          </a:p>
          <a:p>
            <a:endParaRPr lang="en-US" sz="800" dirty="0"/>
          </a:p>
          <a:p>
            <a:r>
              <a:rPr lang="en-US" sz="800" dirty="0"/>
              <a:t>If you are unsure, please reach out to </a:t>
            </a:r>
          </a:p>
          <a:p>
            <a:endParaRPr lang="en-US" sz="800" dirty="0"/>
          </a:p>
          <a:p>
            <a:r>
              <a:rPr lang="en-US" sz="800" dirty="0"/>
              <a:t>   gmn@mckellar.net.nz (gmn@mckellar.net.nz)</a:t>
            </a:r>
          </a:p>
          <a:p>
            <a:r>
              <a:rPr lang="en-US" sz="800" dirty="0"/>
              <a:t>steve@matheson.net.nz (steve@matheson.net.nz)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Unsubscribe from these alerts:</a:t>
            </a:r>
          </a:p>
          <a:p>
            <a:r>
              <a:rPr lang="en-US" sz="800" dirty="0"/>
              <a:t>https://alerts.mckellar.nz/unsubscribe?station=NZ001P&amp;email=gmn%40mckellar.net.nz&amp;sig=f3133d58d87d01f052d48e6c4c25f08f80278394a9e6513610535444b17c8a1c</a:t>
            </a:r>
          </a:p>
          <a:p>
            <a:endParaRPr lang="en-US" sz="800" dirty="0"/>
          </a:p>
          <a:p>
            <a:r>
              <a:rPr lang="en-US" sz="800" dirty="0"/>
              <a:t>Note: the link will open a confirmation page before you are unsubscribed.</a:t>
            </a:r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662371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5446B-55A9-8E3E-99F4-74B77862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Important URLs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641F-5398-7540-82E0-5C94214E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462" y="2582971"/>
            <a:ext cx="6571343" cy="3450613"/>
          </a:xfrm>
        </p:spPr>
        <p:txBody>
          <a:bodyPr/>
          <a:lstStyle/>
          <a:p>
            <a:r>
              <a:rPr lang="en-NZ" dirty="0">
                <a:hlinkClick r:id="rId2"/>
              </a:rPr>
              <a:t>https://github.com/pmcke/Alerts</a:t>
            </a:r>
            <a:endParaRPr lang="en-NZ" dirty="0"/>
          </a:p>
          <a:p>
            <a:r>
              <a:rPr lang="en-NZ" dirty="0">
                <a:hlinkClick r:id="rId3"/>
              </a:rPr>
              <a:t>https://github.com/markmac99/rms_mqt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1110043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</TotalTime>
  <Words>2056</Words>
  <Application>Microsoft Office PowerPoint</Application>
  <PresentationFormat>On-screen Show (4:3)</PresentationFormat>
  <Paragraphs>270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Gill Sans MT</vt:lpstr>
      <vt:lpstr>Gallery</vt:lpstr>
      <vt:lpstr>1. The Problem We Were Solving</vt:lpstr>
      <vt:lpstr>2. High‑Level Architecture</vt:lpstr>
      <vt:lpstr>3. Mailjet Configuration</vt:lpstr>
      <vt:lpstr>3.1 Why Mailjet</vt:lpstr>
      <vt:lpstr>3.2 Mailjet Account Setup</vt:lpstr>
      <vt:lpstr>3.3 config.ini Mailjet Section</vt:lpstr>
      <vt:lpstr>3.4 How Emails Are Sent</vt:lpstr>
      <vt:lpstr>4. Why Cloudflare Tunnel Was Needed</vt:lpstr>
      <vt:lpstr>4.1 The Constraint</vt:lpstr>
      <vt:lpstr>4.2 The Solution: Cloudflare Tunnel</vt:lpstr>
      <vt:lpstr>4.3 What the Tunnel Does</vt:lpstr>
      <vt:lpstr>5. Cloudflare Tunnel Setup</vt:lpstr>
      <vt:lpstr>5.1 Authentication</vt:lpstr>
      <vt:lpstr>5.2 Creating the Tunnel</vt:lpstr>
      <vt:lpstr>5.3 Tunnel Configuration</vt:lpstr>
      <vt:lpstr>5.4 Systemd Service</vt:lpstr>
      <vt:lpstr>6. The Unsubscribe Web App (unsubscribe.py)</vt:lpstr>
      <vt:lpstr>6.1 Why a Separate Service</vt:lpstr>
      <vt:lpstr>6.2 Database Design</vt:lpstr>
      <vt:lpstr>6.3 Two‑Step Unsubscribe Flow</vt:lpstr>
      <vt:lpstr>7. Security: Signed Unsubscribe Links</vt:lpstr>
      <vt:lpstr>7.1 Why Signing Was Needed</vt:lpstr>
      <vt:lpstr>7.2 How Signing Works</vt:lpstr>
      <vt:lpstr>7.3 Where the Secret Lives</vt:lpstr>
      <vt:lpstr>7.4 Case Handling</vt:lpstr>
      <vt:lpstr>8. Systemd Services Overview</vt:lpstr>
      <vt:lpstr>8.1 camera-monitor.service</vt:lpstr>
      <vt:lpstr>8.2 unsubscribe.service</vt:lpstr>
      <vt:lpstr>9. Why This Design Is Safe and Robust</vt:lpstr>
      <vt:lpstr>Examples of emails sent out</vt:lpstr>
      <vt:lpstr>PowerPoint Presentation</vt:lpstr>
      <vt:lpstr>PowerPoint Presentation</vt:lpstr>
      <vt:lpstr>PowerPoint Presentation</vt:lpstr>
      <vt:lpstr>Important URLs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Peter McKellar</dc:creator>
  <cp:keywords/>
  <dc:description>generated using python-pptx</dc:description>
  <cp:lastModifiedBy>Peter McKellar</cp:lastModifiedBy>
  <cp:revision>2</cp:revision>
  <dcterms:created xsi:type="dcterms:W3CDTF">2013-01-27T09:14:16Z</dcterms:created>
  <dcterms:modified xsi:type="dcterms:W3CDTF">2026-01-01T23:32:40Z</dcterms:modified>
  <cp:category/>
</cp:coreProperties>
</file>